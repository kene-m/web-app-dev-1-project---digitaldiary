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83C16-EB32-4B28-AA22-C8813D59A4CA}" v="28" dt="2025-12-11T14:37:53.917"/>
    <p1510:client id="{65387C84-9A63-4DDA-9F78-583FD0D6C73B}" v="75" dt="2025-12-11T14:07:45.113"/>
    <p1510:client id="{9040AF34-3FBA-CA21-CFED-AE13EEBF1BD4}" v="18" dt="2025-12-11T15:19:42.465"/>
    <p1510:client id="{94BA61C2-4C75-59FA-D5B1-A60C5C59112A}" v="2" dt="2025-12-11T16:12:13.103"/>
    <p1510:client id="{CC45EFC4-44BB-62A7-00E8-2462BC951361}" v="3" dt="2025-12-11T14:42:42.0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7DF4CC-8DB5-47AB-A6CE-DB045CC691E7}" type="doc">
      <dgm:prSet loTypeId="urn:microsoft.com/office/officeart/2008/layout/LinedLis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BF5D438-2ABE-4C54-82D8-E2236FDB3C24}">
      <dgm:prSet/>
      <dgm:spPr/>
      <dgm:t>
        <a:bodyPr/>
        <a:lstStyle/>
        <a:p>
          <a:r>
            <a:rPr lang="en-US" b="1"/>
            <a:t>Problem</a:t>
          </a:r>
          <a:r>
            <a:rPr lang="en-US"/>
            <a:t>: Need a simple, secure place to write and organize personal posts and replies.</a:t>
          </a:r>
        </a:p>
      </dgm:t>
    </dgm:pt>
    <dgm:pt modelId="{1F44E13C-39CE-4708-B1DB-24BE25453101}" type="parTrans" cxnId="{69F519E7-1C64-419A-A57C-46B9A670A4AB}">
      <dgm:prSet/>
      <dgm:spPr/>
      <dgm:t>
        <a:bodyPr/>
        <a:lstStyle/>
        <a:p>
          <a:endParaRPr lang="en-US"/>
        </a:p>
      </dgm:t>
    </dgm:pt>
    <dgm:pt modelId="{B7D852C0-1D47-4A2D-A3AF-69DE0CB1DAD3}" type="sibTrans" cxnId="{69F519E7-1C64-419A-A57C-46B9A670A4AB}">
      <dgm:prSet phldrT="1" phldr="0"/>
      <dgm:spPr/>
      <dgm:t>
        <a:bodyPr/>
        <a:lstStyle/>
        <a:p>
          <a:endParaRPr lang="en-US"/>
        </a:p>
      </dgm:t>
    </dgm:pt>
    <dgm:pt modelId="{14F42DD3-6734-4369-92AE-D045F5EFEFFE}">
      <dgm:prSet/>
      <dgm:spPr/>
      <dgm:t>
        <a:bodyPr/>
        <a:lstStyle/>
        <a:p>
          <a:r>
            <a:rPr lang="en-US" b="1"/>
            <a:t>Goal</a:t>
          </a:r>
          <a:r>
            <a:rPr lang="en-US"/>
            <a:t>: Build a small, maintainable MERN app with secure auth, full CRUD, and responsive UI.</a:t>
          </a:r>
        </a:p>
      </dgm:t>
    </dgm:pt>
    <dgm:pt modelId="{29826776-8FF0-4093-BE6A-AB52D4109FB9}" type="parTrans" cxnId="{51433D26-3DB4-4F3A-9C31-DF32CDA17A9A}">
      <dgm:prSet/>
      <dgm:spPr/>
      <dgm:t>
        <a:bodyPr/>
        <a:lstStyle/>
        <a:p>
          <a:endParaRPr lang="en-US"/>
        </a:p>
      </dgm:t>
    </dgm:pt>
    <dgm:pt modelId="{24DA9829-8AF7-4C2B-B83A-9937248B8B47}" type="sibTrans" cxnId="{51433D26-3DB4-4F3A-9C31-DF32CDA17A9A}">
      <dgm:prSet phldrT="2" phldr="0"/>
      <dgm:spPr/>
      <dgm:t>
        <a:bodyPr/>
        <a:lstStyle/>
        <a:p>
          <a:endParaRPr lang="en-US"/>
        </a:p>
      </dgm:t>
    </dgm:pt>
    <dgm:pt modelId="{5A3CB7F4-C23A-41D1-90F2-921F7C328B3E}">
      <dgm:prSet/>
      <dgm:spPr/>
      <dgm:t>
        <a:bodyPr/>
        <a:lstStyle/>
        <a:p>
          <a:r>
            <a:rPr lang="en-US" b="1"/>
            <a:t>Extra</a:t>
          </a:r>
          <a:r>
            <a:rPr lang="en-US"/>
            <a:t>: </a:t>
          </a:r>
          <a:r>
            <a:rPr lang="en-US" b="0" u="sng"/>
            <a:t>Auth</a:t>
          </a:r>
          <a:r>
            <a:rPr lang="en-US" b="1"/>
            <a:t> -</a:t>
          </a:r>
          <a:r>
            <a:rPr lang="en-US"/>
            <a:t> </a:t>
          </a:r>
          <a:r>
            <a:rPr lang="en-US" err="1"/>
            <a:t>bcryptjs</a:t>
          </a:r>
          <a:r>
            <a:rPr lang="en-US"/>
            <a:t> for hashing + JWT tokens for sessions.</a:t>
          </a:r>
        </a:p>
      </dgm:t>
    </dgm:pt>
    <dgm:pt modelId="{311143A3-CAB8-485B-893E-A8F795BB9DD8}" type="parTrans" cxnId="{1E1C7FB5-02A5-48A6-A878-10685E78E479}">
      <dgm:prSet/>
      <dgm:spPr/>
      <dgm:t>
        <a:bodyPr/>
        <a:lstStyle/>
        <a:p>
          <a:endParaRPr lang="en-US"/>
        </a:p>
      </dgm:t>
    </dgm:pt>
    <dgm:pt modelId="{20B064E3-CB13-496A-9AFA-1CFF54A8CD5E}" type="sibTrans" cxnId="{1E1C7FB5-02A5-48A6-A878-10685E78E479}">
      <dgm:prSet phldrT="3" phldr="0"/>
      <dgm:spPr/>
      <dgm:t>
        <a:bodyPr/>
        <a:lstStyle/>
        <a:p>
          <a:endParaRPr lang="en-US"/>
        </a:p>
      </dgm:t>
    </dgm:pt>
    <dgm:pt modelId="{645FA37B-F6AB-46B0-9503-C76BE71FE0E0}" type="pres">
      <dgm:prSet presAssocID="{9D7DF4CC-8DB5-47AB-A6CE-DB045CC691E7}" presName="vert0" presStyleCnt="0">
        <dgm:presLayoutVars>
          <dgm:dir/>
          <dgm:animOne val="branch"/>
          <dgm:animLvl val="lvl"/>
        </dgm:presLayoutVars>
      </dgm:prSet>
      <dgm:spPr/>
    </dgm:pt>
    <dgm:pt modelId="{FFC30384-6D3C-4C73-8E37-AC247D0A612A}" type="pres">
      <dgm:prSet presAssocID="{ABF5D438-2ABE-4C54-82D8-E2236FDB3C24}" presName="thickLine" presStyleLbl="alignNode1" presStyleIdx="0" presStyleCnt="3"/>
      <dgm:spPr/>
    </dgm:pt>
    <dgm:pt modelId="{4D8D3098-B115-446A-82D8-33BDACB99788}" type="pres">
      <dgm:prSet presAssocID="{ABF5D438-2ABE-4C54-82D8-E2236FDB3C24}" presName="horz1" presStyleCnt="0"/>
      <dgm:spPr/>
    </dgm:pt>
    <dgm:pt modelId="{D5737D69-FC8A-406E-B224-06C4E21C1BF2}" type="pres">
      <dgm:prSet presAssocID="{ABF5D438-2ABE-4C54-82D8-E2236FDB3C24}" presName="tx1" presStyleLbl="revTx" presStyleIdx="0" presStyleCnt="3"/>
      <dgm:spPr/>
    </dgm:pt>
    <dgm:pt modelId="{3D5C3EEC-E0BC-4BF4-82B5-3AB0B3D944D0}" type="pres">
      <dgm:prSet presAssocID="{ABF5D438-2ABE-4C54-82D8-E2236FDB3C24}" presName="vert1" presStyleCnt="0"/>
      <dgm:spPr/>
    </dgm:pt>
    <dgm:pt modelId="{B70A52E1-8C12-44B6-A9F6-9A32849CE552}" type="pres">
      <dgm:prSet presAssocID="{14F42DD3-6734-4369-92AE-D045F5EFEFFE}" presName="thickLine" presStyleLbl="alignNode1" presStyleIdx="1" presStyleCnt="3"/>
      <dgm:spPr/>
    </dgm:pt>
    <dgm:pt modelId="{DF75FC7C-FAF6-493B-A994-FE2953B01846}" type="pres">
      <dgm:prSet presAssocID="{14F42DD3-6734-4369-92AE-D045F5EFEFFE}" presName="horz1" presStyleCnt="0"/>
      <dgm:spPr/>
    </dgm:pt>
    <dgm:pt modelId="{06ACE48B-E9B3-41D0-96AE-3A32F2983D37}" type="pres">
      <dgm:prSet presAssocID="{14F42DD3-6734-4369-92AE-D045F5EFEFFE}" presName="tx1" presStyleLbl="revTx" presStyleIdx="1" presStyleCnt="3"/>
      <dgm:spPr/>
    </dgm:pt>
    <dgm:pt modelId="{0693FC7A-C29C-44A3-870C-5EE8C8E196C4}" type="pres">
      <dgm:prSet presAssocID="{14F42DD3-6734-4369-92AE-D045F5EFEFFE}" presName="vert1" presStyleCnt="0"/>
      <dgm:spPr/>
    </dgm:pt>
    <dgm:pt modelId="{EF3FF864-6676-4EE0-83F5-701DC13C1A50}" type="pres">
      <dgm:prSet presAssocID="{5A3CB7F4-C23A-41D1-90F2-921F7C328B3E}" presName="thickLine" presStyleLbl="alignNode1" presStyleIdx="2" presStyleCnt="3"/>
      <dgm:spPr/>
    </dgm:pt>
    <dgm:pt modelId="{2A2336F0-110F-41DD-B40A-C1F95FC37193}" type="pres">
      <dgm:prSet presAssocID="{5A3CB7F4-C23A-41D1-90F2-921F7C328B3E}" presName="horz1" presStyleCnt="0"/>
      <dgm:spPr/>
    </dgm:pt>
    <dgm:pt modelId="{63053EE8-2C32-49E4-A36B-C1D7E36BF50C}" type="pres">
      <dgm:prSet presAssocID="{5A3CB7F4-C23A-41D1-90F2-921F7C328B3E}" presName="tx1" presStyleLbl="revTx" presStyleIdx="2" presStyleCnt="3"/>
      <dgm:spPr/>
    </dgm:pt>
    <dgm:pt modelId="{0A242AE5-4EB5-4A1E-8D5D-E2E20094F1F7}" type="pres">
      <dgm:prSet presAssocID="{5A3CB7F4-C23A-41D1-90F2-921F7C328B3E}" presName="vert1" presStyleCnt="0"/>
      <dgm:spPr/>
    </dgm:pt>
  </dgm:ptLst>
  <dgm:cxnLst>
    <dgm:cxn modelId="{51433D26-3DB4-4F3A-9C31-DF32CDA17A9A}" srcId="{9D7DF4CC-8DB5-47AB-A6CE-DB045CC691E7}" destId="{14F42DD3-6734-4369-92AE-D045F5EFEFFE}" srcOrd="1" destOrd="0" parTransId="{29826776-8FF0-4093-BE6A-AB52D4109FB9}" sibTransId="{24DA9829-8AF7-4C2B-B83A-9937248B8B47}"/>
    <dgm:cxn modelId="{0307198D-033C-42A5-AAE7-BD940E7E582C}" type="presOf" srcId="{ABF5D438-2ABE-4C54-82D8-E2236FDB3C24}" destId="{D5737D69-FC8A-406E-B224-06C4E21C1BF2}" srcOrd="0" destOrd="0" presId="urn:microsoft.com/office/officeart/2008/layout/LinedList"/>
    <dgm:cxn modelId="{1E1C7FB5-02A5-48A6-A878-10685E78E479}" srcId="{9D7DF4CC-8DB5-47AB-A6CE-DB045CC691E7}" destId="{5A3CB7F4-C23A-41D1-90F2-921F7C328B3E}" srcOrd="2" destOrd="0" parTransId="{311143A3-CAB8-485B-893E-A8F795BB9DD8}" sibTransId="{20B064E3-CB13-496A-9AFA-1CFF54A8CD5E}"/>
    <dgm:cxn modelId="{77AB4CBE-6F90-4C32-8CCB-79C6058D79E1}" type="presOf" srcId="{9D7DF4CC-8DB5-47AB-A6CE-DB045CC691E7}" destId="{645FA37B-F6AB-46B0-9503-C76BE71FE0E0}" srcOrd="0" destOrd="0" presId="urn:microsoft.com/office/officeart/2008/layout/LinedList"/>
    <dgm:cxn modelId="{7C25F1D0-043C-4A2A-B681-99EB4B395FFC}" type="presOf" srcId="{5A3CB7F4-C23A-41D1-90F2-921F7C328B3E}" destId="{63053EE8-2C32-49E4-A36B-C1D7E36BF50C}" srcOrd="0" destOrd="0" presId="urn:microsoft.com/office/officeart/2008/layout/LinedList"/>
    <dgm:cxn modelId="{69F519E7-1C64-419A-A57C-46B9A670A4AB}" srcId="{9D7DF4CC-8DB5-47AB-A6CE-DB045CC691E7}" destId="{ABF5D438-2ABE-4C54-82D8-E2236FDB3C24}" srcOrd="0" destOrd="0" parTransId="{1F44E13C-39CE-4708-B1DB-24BE25453101}" sibTransId="{B7D852C0-1D47-4A2D-A3AF-69DE0CB1DAD3}"/>
    <dgm:cxn modelId="{C91976FB-BDB6-40D4-9F64-AF384344D16D}" type="presOf" srcId="{14F42DD3-6734-4369-92AE-D045F5EFEFFE}" destId="{06ACE48B-E9B3-41D0-96AE-3A32F2983D37}" srcOrd="0" destOrd="0" presId="urn:microsoft.com/office/officeart/2008/layout/LinedList"/>
    <dgm:cxn modelId="{82030CD9-8F49-48A1-8264-3FE028AA3935}" type="presParOf" srcId="{645FA37B-F6AB-46B0-9503-C76BE71FE0E0}" destId="{FFC30384-6D3C-4C73-8E37-AC247D0A612A}" srcOrd="0" destOrd="0" presId="urn:microsoft.com/office/officeart/2008/layout/LinedList"/>
    <dgm:cxn modelId="{F7977888-066D-4BC9-B348-58D9081295D1}" type="presParOf" srcId="{645FA37B-F6AB-46B0-9503-C76BE71FE0E0}" destId="{4D8D3098-B115-446A-82D8-33BDACB99788}" srcOrd="1" destOrd="0" presId="urn:microsoft.com/office/officeart/2008/layout/LinedList"/>
    <dgm:cxn modelId="{0D087510-7CC0-4793-8E7A-7944F8F1FCA7}" type="presParOf" srcId="{4D8D3098-B115-446A-82D8-33BDACB99788}" destId="{D5737D69-FC8A-406E-B224-06C4E21C1BF2}" srcOrd="0" destOrd="0" presId="urn:microsoft.com/office/officeart/2008/layout/LinedList"/>
    <dgm:cxn modelId="{7FD74680-8732-4E93-85D9-D2AFBCD6ECF5}" type="presParOf" srcId="{4D8D3098-B115-446A-82D8-33BDACB99788}" destId="{3D5C3EEC-E0BC-4BF4-82B5-3AB0B3D944D0}" srcOrd="1" destOrd="0" presId="urn:microsoft.com/office/officeart/2008/layout/LinedList"/>
    <dgm:cxn modelId="{91473CFC-9A46-4094-936F-62FF22489B9A}" type="presParOf" srcId="{645FA37B-F6AB-46B0-9503-C76BE71FE0E0}" destId="{B70A52E1-8C12-44B6-A9F6-9A32849CE552}" srcOrd="2" destOrd="0" presId="urn:microsoft.com/office/officeart/2008/layout/LinedList"/>
    <dgm:cxn modelId="{4F2B1624-F7FB-4432-9AA4-C37A7C3A04BE}" type="presParOf" srcId="{645FA37B-F6AB-46B0-9503-C76BE71FE0E0}" destId="{DF75FC7C-FAF6-493B-A994-FE2953B01846}" srcOrd="3" destOrd="0" presId="urn:microsoft.com/office/officeart/2008/layout/LinedList"/>
    <dgm:cxn modelId="{E8C20538-A614-40CB-B1AA-6D1E9300B566}" type="presParOf" srcId="{DF75FC7C-FAF6-493B-A994-FE2953B01846}" destId="{06ACE48B-E9B3-41D0-96AE-3A32F2983D37}" srcOrd="0" destOrd="0" presId="urn:microsoft.com/office/officeart/2008/layout/LinedList"/>
    <dgm:cxn modelId="{85ACD7C5-6686-4711-AA67-B86CBA3176AB}" type="presParOf" srcId="{DF75FC7C-FAF6-493B-A994-FE2953B01846}" destId="{0693FC7A-C29C-44A3-870C-5EE8C8E196C4}" srcOrd="1" destOrd="0" presId="urn:microsoft.com/office/officeart/2008/layout/LinedList"/>
    <dgm:cxn modelId="{1BE18254-CF85-44C0-84F7-2E2834C94B6D}" type="presParOf" srcId="{645FA37B-F6AB-46B0-9503-C76BE71FE0E0}" destId="{EF3FF864-6676-4EE0-83F5-701DC13C1A50}" srcOrd="4" destOrd="0" presId="urn:microsoft.com/office/officeart/2008/layout/LinedList"/>
    <dgm:cxn modelId="{0B538107-19D5-4CFB-A1D7-B66959203850}" type="presParOf" srcId="{645FA37B-F6AB-46B0-9503-C76BE71FE0E0}" destId="{2A2336F0-110F-41DD-B40A-C1F95FC37193}" srcOrd="5" destOrd="0" presId="urn:microsoft.com/office/officeart/2008/layout/LinedList"/>
    <dgm:cxn modelId="{7DC09EAC-D551-4F41-BD49-0D69748B3D6C}" type="presParOf" srcId="{2A2336F0-110F-41DD-B40A-C1F95FC37193}" destId="{63053EE8-2C32-49E4-A36B-C1D7E36BF50C}" srcOrd="0" destOrd="0" presId="urn:microsoft.com/office/officeart/2008/layout/LinedList"/>
    <dgm:cxn modelId="{9803C997-7487-4805-A0F7-771F2DC8EE20}" type="presParOf" srcId="{2A2336F0-110F-41DD-B40A-C1F95FC37193}" destId="{0A242AE5-4EB5-4A1E-8D5D-E2E20094F1F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C30384-6D3C-4C73-8E37-AC247D0A612A}">
      <dsp:nvSpPr>
        <dsp:cNvPr id="0" name=""/>
        <dsp:cNvSpPr/>
      </dsp:nvSpPr>
      <dsp:spPr>
        <a:xfrm>
          <a:off x="0" y="1919"/>
          <a:ext cx="5195889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5737D69-FC8A-406E-B224-06C4E21C1BF2}">
      <dsp:nvSpPr>
        <dsp:cNvPr id="0" name=""/>
        <dsp:cNvSpPr/>
      </dsp:nvSpPr>
      <dsp:spPr>
        <a:xfrm>
          <a:off x="0" y="1919"/>
          <a:ext cx="5195889" cy="1309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Problem</a:t>
          </a:r>
          <a:r>
            <a:rPr lang="en-US" sz="2700" kern="1200"/>
            <a:t>: Need a simple, secure place to write and organize personal posts and replies.</a:t>
          </a:r>
        </a:p>
      </dsp:txBody>
      <dsp:txXfrm>
        <a:off x="0" y="1919"/>
        <a:ext cx="5195889" cy="1309360"/>
      </dsp:txXfrm>
    </dsp:sp>
    <dsp:sp modelId="{B70A52E1-8C12-44B6-A9F6-9A32849CE552}">
      <dsp:nvSpPr>
        <dsp:cNvPr id="0" name=""/>
        <dsp:cNvSpPr/>
      </dsp:nvSpPr>
      <dsp:spPr>
        <a:xfrm>
          <a:off x="0" y="1311279"/>
          <a:ext cx="5195889" cy="0"/>
        </a:xfrm>
        <a:prstGeom prst="line">
          <a:avLst/>
        </a:prstGeom>
        <a:gradFill rotWithShape="0">
          <a:gsLst>
            <a:gs pos="0">
              <a:schemeClr val="accent5">
                <a:hueOff val="9504470"/>
                <a:satOff val="-13330"/>
                <a:lumOff val="-137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9504470"/>
                <a:satOff val="-13330"/>
                <a:lumOff val="-137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9504470"/>
                <a:satOff val="-13330"/>
                <a:lumOff val="-137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9504470"/>
              <a:satOff val="-13330"/>
              <a:lumOff val="-137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6ACE48B-E9B3-41D0-96AE-3A32F2983D37}">
      <dsp:nvSpPr>
        <dsp:cNvPr id="0" name=""/>
        <dsp:cNvSpPr/>
      </dsp:nvSpPr>
      <dsp:spPr>
        <a:xfrm>
          <a:off x="0" y="1311279"/>
          <a:ext cx="5195889" cy="1309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Goal</a:t>
          </a:r>
          <a:r>
            <a:rPr lang="en-US" sz="2700" kern="1200"/>
            <a:t>: Build a small, maintainable MERN app with secure auth, full CRUD, and responsive UI.</a:t>
          </a:r>
        </a:p>
      </dsp:txBody>
      <dsp:txXfrm>
        <a:off x="0" y="1311279"/>
        <a:ext cx="5195889" cy="1309360"/>
      </dsp:txXfrm>
    </dsp:sp>
    <dsp:sp modelId="{EF3FF864-6676-4EE0-83F5-701DC13C1A50}">
      <dsp:nvSpPr>
        <dsp:cNvPr id="0" name=""/>
        <dsp:cNvSpPr/>
      </dsp:nvSpPr>
      <dsp:spPr>
        <a:xfrm>
          <a:off x="0" y="2620640"/>
          <a:ext cx="5195889" cy="0"/>
        </a:xfrm>
        <a:prstGeom prst="line">
          <a:avLst/>
        </a:prstGeom>
        <a:gradFill rotWithShape="0">
          <a:gsLst>
            <a:gs pos="0">
              <a:schemeClr val="accent5">
                <a:hueOff val="19008940"/>
                <a:satOff val="-26660"/>
                <a:lumOff val="-274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9008940"/>
                <a:satOff val="-26660"/>
                <a:lumOff val="-274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9008940"/>
                <a:satOff val="-26660"/>
                <a:lumOff val="-274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19008940"/>
              <a:satOff val="-26660"/>
              <a:lumOff val="-2746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3053EE8-2C32-49E4-A36B-C1D7E36BF50C}">
      <dsp:nvSpPr>
        <dsp:cNvPr id="0" name=""/>
        <dsp:cNvSpPr/>
      </dsp:nvSpPr>
      <dsp:spPr>
        <a:xfrm>
          <a:off x="0" y="2620640"/>
          <a:ext cx="5195889" cy="1309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Extra</a:t>
          </a:r>
          <a:r>
            <a:rPr lang="en-US" sz="2700" kern="1200"/>
            <a:t>: </a:t>
          </a:r>
          <a:r>
            <a:rPr lang="en-US" sz="2700" b="0" u="sng" kern="1200"/>
            <a:t>Auth</a:t>
          </a:r>
          <a:r>
            <a:rPr lang="en-US" sz="2700" b="1" kern="1200"/>
            <a:t> -</a:t>
          </a:r>
          <a:r>
            <a:rPr lang="en-US" sz="2700" kern="1200"/>
            <a:t> </a:t>
          </a:r>
          <a:r>
            <a:rPr lang="en-US" sz="2700" kern="1200" err="1"/>
            <a:t>bcryptjs</a:t>
          </a:r>
          <a:r>
            <a:rPr lang="en-US" sz="2700" kern="1200"/>
            <a:t> for hashing + JWT tokens for sessions.</a:t>
          </a:r>
        </a:p>
      </dsp:txBody>
      <dsp:txXfrm>
        <a:off x="0" y="2620640"/>
        <a:ext cx="5195889" cy="1309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8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38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6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1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3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1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71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24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94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40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19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98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osaic of colorful geometric shapes">
            <a:extLst>
              <a:ext uri="{FF2B5EF4-FFF2-40B4-BE49-F238E27FC236}">
                <a16:creationId xmlns:a16="http://schemas.microsoft.com/office/drawing/2014/main" id="{13591FE0-BA29-C3B6-AFE8-F0472F7381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99" r="-2" b="4957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 b="1" err="1">
                <a:solidFill>
                  <a:srgbClr val="FFFFFF"/>
                </a:solidFill>
              </a:rPr>
              <a:t>DigitalDiary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n-US" b="1" u="sng">
                <a:solidFill>
                  <a:srgbClr val="FFFFFF"/>
                </a:solidFill>
              </a:rPr>
              <a:t>By the </a:t>
            </a:r>
            <a:r>
              <a:rPr lang="en-US" b="1" i="1" u="sng">
                <a:solidFill>
                  <a:srgbClr val="FFFFFF"/>
                </a:solidFill>
              </a:rPr>
              <a:t>Goofy Goobers</a:t>
            </a:r>
            <a:r>
              <a:rPr lang="en-US" b="1" u="sng">
                <a:solidFill>
                  <a:srgbClr val="FFFFFF"/>
                </a:solidFill>
              </a:rPr>
              <a:t> Team</a:t>
            </a:r>
            <a:r>
              <a:rPr lang="en-US">
                <a:solidFill>
                  <a:srgbClr val="FFFFFF"/>
                </a:solidFill>
              </a:rPr>
              <a:t>:</a:t>
            </a:r>
            <a:endParaRPr lang="en-US"/>
          </a:p>
          <a:p>
            <a:r>
              <a:rPr lang="en-US">
                <a:solidFill>
                  <a:srgbClr val="FFFFFF"/>
                </a:solidFill>
              </a:rPr>
              <a:t>Kene </a:t>
            </a:r>
            <a:r>
              <a:rPr lang="en-US" err="1">
                <a:solidFill>
                  <a:srgbClr val="FFFFFF"/>
                </a:solidFill>
              </a:rPr>
              <a:t>Maduabum</a:t>
            </a:r>
            <a:r>
              <a:rPr lang="en-US">
                <a:solidFill>
                  <a:srgbClr val="FFFFFF"/>
                </a:solidFill>
              </a:rPr>
              <a:t>, Alianna Card, Megan Land, Nolan Haag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EA1A67-7B22-7BAD-D3C0-987691E9C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US" b="1">
                <a:ea typeface="Calibri"/>
                <a:cs typeface="Calibri"/>
              </a:rPr>
              <a:t>Summary</a:t>
            </a:r>
            <a:endParaRPr lang="en-US" b="1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FCB7F56B-D115-C4C2-E6CD-5372EB5165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7"/>
          <a:stretch>
            <a:fillRect/>
          </a:stretch>
        </p:blipFill>
        <p:spPr>
          <a:xfrm>
            <a:off x="6420752" y="731520"/>
            <a:ext cx="5055865" cy="5422392"/>
          </a:xfrm>
          <a:prstGeom prst="rect">
            <a:avLst/>
          </a:prstGeom>
        </p:spPr>
      </p:pic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3E3B84E-C08C-841E-F65E-72A7FE219B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0300242"/>
              </p:ext>
            </p:extLst>
          </p:nvPr>
        </p:nvGraphicFramePr>
        <p:xfrm>
          <a:off x="704088" y="2231136"/>
          <a:ext cx="5195889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7571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EDCFC-7486-1241-7E9D-400BA84BE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en-US" b="1"/>
              <a:t>USER FEATURES</a:t>
            </a:r>
          </a:p>
        </p:txBody>
      </p:sp>
      <p:cxnSp>
        <p:nvCxnSpPr>
          <p:cNvPr id="13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359B03-C790-A09D-EECF-EFBA0BD0B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38" y="3550219"/>
            <a:ext cx="6399929" cy="300697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CE144-A8F5-24D0-4EA6-8C58F8224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/>
          </a:bodyPr>
          <a:lstStyle/>
          <a:p>
            <a:r>
              <a:rPr lang="en-US" b="1"/>
              <a:t>Post Management (CRUD)</a:t>
            </a:r>
            <a:r>
              <a:rPr lang="en-US"/>
              <a:t>: Authenticated users can Create, Read, Edit, and Delete their own posts.</a:t>
            </a:r>
          </a:p>
          <a:p>
            <a:r>
              <a:rPr lang="en-US" b="1"/>
              <a:t>Community Engagement</a:t>
            </a:r>
            <a:r>
              <a:rPr lang="en-US"/>
              <a:t>: Post-specific reply functionality using a dedicated Reply Model.</a:t>
            </a:r>
          </a:p>
          <a:p>
            <a:r>
              <a:rPr lang="en-US" b="1"/>
              <a:t>Real-Time Feed</a:t>
            </a:r>
            <a:r>
              <a:rPr lang="en-US"/>
              <a:t>: Instantly view the chronological stream of all published community posts.</a:t>
            </a:r>
          </a:p>
        </p:txBody>
      </p:sp>
    </p:spTree>
    <p:extLst>
      <p:ext uri="{BB962C8B-B14F-4D97-AF65-F5344CB8AC3E}">
        <p14:creationId xmlns:p14="http://schemas.microsoft.com/office/powerpoint/2010/main" val="951916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6E9CE0-35B4-4957-25AC-8666C26D8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10691814" cy="981914"/>
          </a:xfrm>
        </p:spPr>
        <p:txBody>
          <a:bodyPr>
            <a:normAutofit/>
          </a:bodyPr>
          <a:lstStyle/>
          <a:p>
            <a:r>
              <a:rPr lang="en-US" b="1"/>
              <a:t>Architecture &amp; Components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43766AD-6614-4710-B2A4-7BB682EE3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96107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9AAA7-97FA-D678-74AE-99432CB86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6373"/>
            <a:ext cx="4087065" cy="3935127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sz="1800" b="1"/>
              <a:t>Client/Frontend</a:t>
            </a:r>
            <a:r>
              <a:rPr lang="en-US" sz="1800"/>
              <a:t>: React (React Router, Axios)</a:t>
            </a:r>
          </a:p>
          <a:p>
            <a:pPr>
              <a:defRPr sz="1800"/>
            </a:pPr>
            <a:r>
              <a:rPr lang="en-US" sz="1800" b="1"/>
              <a:t>Server/Backend</a:t>
            </a:r>
            <a:r>
              <a:rPr lang="en-US" sz="1800"/>
              <a:t>: Node.js + Express (routes &amp; middleware)</a:t>
            </a:r>
          </a:p>
          <a:p>
            <a:pPr>
              <a:defRPr sz="1800"/>
            </a:pPr>
            <a:r>
              <a:rPr lang="en-US" sz="1800" b="1"/>
              <a:t>DB</a:t>
            </a:r>
            <a:r>
              <a:rPr lang="en-US" sz="1800"/>
              <a:t>: MongoDB with Mongoose (User, Post, Reply models)</a:t>
            </a:r>
          </a:p>
          <a:p>
            <a:pPr marL="0" indent="0">
              <a:buNone/>
              <a:defRPr sz="1800"/>
            </a:pPr>
            <a:endParaRPr lang="en-US" sz="1800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305ECFF-17AB-F017-5056-1241877CB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508" y="2226373"/>
            <a:ext cx="2637714" cy="3907725"/>
          </a:xfrm>
          <a:prstGeom prst="rect">
            <a:avLst/>
          </a:prstGeom>
        </p:spPr>
      </p:pic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53C8D644-FACC-1CA6-C5E2-2DD760D354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20" r="46330" b="-446"/>
          <a:stretch>
            <a:fillRect/>
          </a:stretch>
        </p:blipFill>
        <p:spPr>
          <a:xfrm>
            <a:off x="8314138" y="2226373"/>
            <a:ext cx="2645452" cy="390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494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CAA6D5-06B4-C9E5-0871-B9DE95531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US" b="1"/>
              <a:t>Data Models (Mongoose)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F0115-6F0F-4C29-9927-3F2E8D0A0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sz="1800" b="1"/>
              <a:t>User</a:t>
            </a:r>
            <a:r>
              <a:rPr lang="en-US" sz="1800"/>
              <a:t>: username, email, </a:t>
            </a:r>
            <a:r>
              <a:rPr lang="en-US" sz="1800" err="1"/>
              <a:t>passwordHash</a:t>
            </a:r>
            <a:r>
              <a:rPr lang="en-US" sz="1800"/>
              <a:t>, timestamps</a:t>
            </a:r>
          </a:p>
          <a:p>
            <a:pPr>
              <a:defRPr sz="1800"/>
            </a:pPr>
            <a:r>
              <a:rPr lang="en-US" sz="1800" b="1"/>
              <a:t>Post</a:t>
            </a:r>
            <a:r>
              <a:rPr lang="en-US" sz="1800"/>
              <a:t>: author (</a:t>
            </a:r>
            <a:r>
              <a:rPr lang="en-US" sz="1800" err="1"/>
              <a:t>ObjectId</a:t>
            </a:r>
            <a:r>
              <a:rPr lang="en-US" sz="1800"/>
              <a:t> → User), title, content, timestamps</a:t>
            </a:r>
          </a:p>
          <a:p>
            <a:pPr>
              <a:defRPr sz="1800"/>
            </a:pPr>
            <a:r>
              <a:rPr lang="en-US" sz="1800" b="1"/>
              <a:t>Reply</a:t>
            </a:r>
            <a:r>
              <a:rPr lang="en-US" sz="1800"/>
              <a:t>: author, post (</a:t>
            </a:r>
            <a:r>
              <a:rPr lang="en-US" sz="1800" err="1"/>
              <a:t>ObjectId</a:t>
            </a:r>
            <a:r>
              <a:rPr lang="en-US" sz="1800"/>
              <a:t> → Post), content, timestamps</a:t>
            </a:r>
          </a:p>
          <a:p>
            <a:pPr marL="0" indent="0">
              <a:buNone/>
              <a:defRPr sz="1800"/>
            </a:pPr>
            <a:endParaRPr lang="en-US" sz="180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08C7EE-23D4-206E-2B44-D641A30D57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2" r="29584" b="1"/>
          <a:stretch>
            <a:fillRect/>
          </a:stretch>
        </p:blipFill>
        <p:spPr>
          <a:xfrm>
            <a:off x="6420752" y="731520"/>
            <a:ext cx="5055865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62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348311-75F6-5A15-BF31-EC817597C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en-US" b="1"/>
              <a:t>Primary Features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65B6412C-BF78-40C4-C19A-E32C2034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19" r="47191" b="-2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04432-0D39-EDE3-8460-F68B56312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sz="1800"/>
              <a:t>Secure Sign up / Login (</a:t>
            </a:r>
            <a:r>
              <a:rPr lang="en-US" sz="1800" err="1"/>
              <a:t>bcryptjs</a:t>
            </a:r>
            <a:r>
              <a:rPr lang="en-US" sz="1800"/>
              <a:t> + JWT)</a:t>
            </a:r>
          </a:p>
          <a:p>
            <a:pPr>
              <a:defRPr sz="1800"/>
            </a:pPr>
            <a:r>
              <a:rPr lang="en-US" sz="1800"/>
              <a:t>Full CRUD for posts (create, read, update, delete)</a:t>
            </a:r>
          </a:p>
          <a:p>
            <a:pPr>
              <a:defRPr sz="1800"/>
            </a:pPr>
            <a:r>
              <a:rPr lang="en-US" sz="1800"/>
              <a:t>Reply/comment system attached to posts</a:t>
            </a:r>
          </a:p>
          <a:p>
            <a:pPr>
              <a:defRPr sz="1800"/>
            </a:pPr>
            <a:r>
              <a:rPr lang="en-US" sz="1800"/>
              <a:t>Responsive UI with React hooks (</a:t>
            </a:r>
            <a:r>
              <a:rPr lang="en-US" sz="1800" err="1"/>
              <a:t>useState</a:t>
            </a:r>
            <a:r>
              <a:rPr lang="en-US" sz="1800"/>
              <a:t>, </a:t>
            </a:r>
            <a:r>
              <a:rPr lang="en-US" sz="1800" err="1"/>
              <a:t>useEffect</a:t>
            </a:r>
            <a:r>
              <a:rPr lang="en-US" sz="18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4161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E8AD9-E503-91F8-B437-E80876F98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Auth Highlights — Hashing &amp; Token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3A337-9B1A-4F3F-F465-61FC4B2FD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400"/>
            </a:pPr>
            <a:r>
              <a:rPr lang="en-US" sz="1800"/>
              <a:t>Passwords never stored in plaintext - </a:t>
            </a:r>
            <a:r>
              <a:rPr lang="en-US" sz="1800" err="1"/>
              <a:t>passwordHash</a:t>
            </a:r>
            <a:r>
              <a:rPr lang="en-US" sz="1800"/>
              <a:t> only</a:t>
            </a:r>
          </a:p>
          <a:p>
            <a:pPr>
              <a:defRPr sz="1400"/>
            </a:pPr>
            <a:r>
              <a:rPr lang="en-US" sz="1800" err="1"/>
              <a:t>bcrypt</a:t>
            </a:r>
            <a:r>
              <a:rPr lang="en-US" sz="1800"/>
              <a:t> with per-password salt (</a:t>
            </a:r>
            <a:r>
              <a:rPr lang="en-US" sz="1800" err="1"/>
              <a:t>genSalt</a:t>
            </a:r>
            <a:r>
              <a:rPr lang="en-US" sz="1800"/>
              <a:t>(10)) to slow brute-force</a:t>
            </a:r>
          </a:p>
          <a:p>
            <a:pPr>
              <a:defRPr sz="1400"/>
            </a:pPr>
            <a:r>
              <a:rPr lang="en-US" sz="1800"/>
              <a:t>JWT signed with JWT_SECRET; 7-day expiry</a:t>
            </a:r>
          </a:p>
          <a:p>
            <a:pPr>
              <a:defRPr sz="1400"/>
            </a:pPr>
            <a:r>
              <a:rPr lang="en-US" sz="1800"/>
              <a:t>Protected routes via auth middleware reading Authorization header</a:t>
            </a:r>
          </a:p>
        </p:txBody>
      </p:sp>
      <p:pic>
        <p:nvPicPr>
          <p:cNvPr id="5" name="Picture 4" descr="A computer screen shot of numbers&#10;&#10;AI-generated content may be incorrect.">
            <a:extLst>
              <a:ext uri="{FF2B5EF4-FFF2-40B4-BE49-F238E27FC236}">
                <a16:creationId xmlns:a16="http://schemas.microsoft.com/office/drawing/2014/main" id="{2D274E05-E97A-A8A8-F61E-5914D6F46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814" y="4208397"/>
            <a:ext cx="7020905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607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CC08B-F136-B096-D06D-D021A7D5E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Frontend: React, Routing &amp; Axios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0D32F-8FCB-66A6-4DD4-6D2C9AF49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/>
              <a:t>React Router for navigation (/, /login, /signup, /posts/:id)</a:t>
            </a:r>
          </a:p>
          <a:p>
            <a:pPr>
              <a:defRPr sz="1800"/>
            </a:pPr>
            <a:r>
              <a:rPr lang="en-US"/>
              <a:t>Axios instance attaches Authorization header from </a:t>
            </a:r>
            <a:r>
              <a:rPr lang="en-US" err="1"/>
              <a:t>localStorage</a:t>
            </a:r>
            <a:endParaRPr lang="en-US"/>
          </a:p>
          <a:p>
            <a:pPr>
              <a:defRPr sz="1800"/>
            </a:pPr>
            <a:r>
              <a:rPr lang="en-US"/>
              <a:t>Key components: Navbar, </a:t>
            </a:r>
            <a:r>
              <a:rPr lang="en-US" err="1"/>
              <a:t>PostPage</a:t>
            </a:r>
            <a:r>
              <a:rPr lang="en-US"/>
              <a:t>, </a:t>
            </a:r>
            <a:r>
              <a:rPr lang="en-US" err="1"/>
              <a:t>RegisterPage</a:t>
            </a:r>
            <a:r>
              <a:rPr lang="en-US"/>
              <a:t>, </a:t>
            </a:r>
            <a:r>
              <a:rPr lang="en-US" err="1"/>
              <a:t>LoginPage</a:t>
            </a:r>
            <a:endParaRPr lang="en-US"/>
          </a:p>
          <a:p>
            <a:pPr>
              <a:defRPr sz="1800"/>
            </a:pPr>
            <a:r>
              <a:rPr lang="en-US"/>
              <a:t>Use of </a:t>
            </a:r>
            <a:r>
              <a:rPr lang="en-US" err="1"/>
              <a:t>useState</a:t>
            </a:r>
            <a:r>
              <a:rPr lang="en-US"/>
              <a:t> and </a:t>
            </a:r>
            <a:r>
              <a:rPr lang="en-US" err="1"/>
              <a:t>useEffect</a:t>
            </a:r>
            <a:r>
              <a:rPr lang="en-US"/>
              <a:t> for state and lifecycle management</a:t>
            </a:r>
          </a:p>
        </p:txBody>
      </p:sp>
    </p:spTree>
    <p:extLst>
      <p:ext uri="{BB962C8B-B14F-4D97-AF65-F5344CB8AC3E}">
        <p14:creationId xmlns:p14="http://schemas.microsoft.com/office/powerpoint/2010/main" val="4137661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1FEF09-1B2B-5AB5-1805-F0206EDCC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9" y="914400"/>
            <a:ext cx="3453844" cy="1463040"/>
          </a:xfrm>
        </p:spPr>
        <p:txBody>
          <a:bodyPr anchor="t">
            <a:normAutofit/>
          </a:bodyPr>
          <a:lstStyle/>
          <a:p>
            <a:r>
              <a:rPr lang="en-US" b="1" dirty="0"/>
              <a:t>How  to Run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C10D4C-8DED-200E-3237-3345F3F2A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CF5E3-6D12-4109-4F82-C981B53B4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2022" y="1014984"/>
            <a:ext cx="6614593" cy="1362456"/>
          </a:xfrm>
        </p:spPr>
        <p:txBody>
          <a:bodyPr anchor="t">
            <a:normAutofit/>
          </a:bodyPr>
          <a:lstStyle/>
          <a:p>
            <a:pPr>
              <a:defRPr sz="1800"/>
            </a:pPr>
            <a:r>
              <a:rPr lang="en-US" sz="1800" b="1"/>
              <a:t>Backend</a:t>
            </a:r>
            <a:r>
              <a:rPr lang="en-US" sz="1800"/>
              <a:t>: cd backend -&gt; </a:t>
            </a:r>
            <a:r>
              <a:rPr lang="en-US" sz="1800" err="1"/>
              <a:t>npm</a:t>
            </a:r>
            <a:r>
              <a:rPr lang="en-US" sz="1800"/>
              <a:t> install -&gt; create and set .env (MONGO_URI, JWT_SECRET) → </a:t>
            </a:r>
            <a:r>
              <a:rPr lang="en-US" sz="1800" err="1"/>
              <a:t>npm</a:t>
            </a:r>
            <a:r>
              <a:rPr lang="en-US" sz="1800"/>
              <a:t> start</a:t>
            </a:r>
          </a:p>
          <a:p>
            <a:pPr>
              <a:defRPr sz="1800"/>
            </a:pPr>
            <a:r>
              <a:rPr lang="en-US" sz="1800" b="1"/>
              <a:t>Frontend</a:t>
            </a:r>
            <a:r>
              <a:rPr lang="en-US" sz="1800"/>
              <a:t>: cd frontend -&gt; </a:t>
            </a:r>
            <a:r>
              <a:rPr lang="en-US" sz="1800" err="1"/>
              <a:t>npm</a:t>
            </a:r>
            <a:r>
              <a:rPr lang="en-US" sz="1800"/>
              <a:t> install -&gt; </a:t>
            </a:r>
            <a:r>
              <a:rPr lang="en-US" sz="1800" err="1"/>
              <a:t>npm</a:t>
            </a:r>
            <a:r>
              <a:rPr lang="en-US" sz="1800"/>
              <a:t> start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F7F80F-9EDD-0EEA-B6D7-E116EBA4F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2497143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EDE3C4-D72C-1A28-B893-A1769C8924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17" b="-1"/>
          <a:stretch>
            <a:fillRect/>
          </a:stretch>
        </p:blipFill>
        <p:spPr>
          <a:xfrm>
            <a:off x="2247187" y="3017719"/>
            <a:ext cx="7697626" cy="252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67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327EE-C76A-D0EF-C6D2-FF980087C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DEMO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Play">
            <a:extLst>
              <a:ext uri="{FF2B5EF4-FFF2-40B4-BE49-F238E27FC236}">
                <a16:creationId xmlns:a16="http://schemas.microsoft.com/office/drawing/2014/main" id="{E1118395-A1DD-3240-E4E9-365B1BDC9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10149" y="723901"/>
            <a:ext cx="54102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0233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ChronicleVTI</vt:lpstr>
      <vt:lpstr>DigitalDiary</vt:lpstr>
      <vt:lpstr>Summary</vt:lpstr>
      <vt:lpstr>USER FEATURES</vt:lpstr>
      <vt:lpstr>Architecture &amp; Components</vt:lpstr>
      <vt:lpstr>Data Models (Mongoose)</vt:lpstr>
      <vt:lpstr>Primary Features</vt:lpstr>
      <vt:lpstr>Auth Highlights — Hashing &amp; Token Creation</vt:lpstr>
      <vt:lpstr>Frontend: React, Routing &amp; Axios</vt:lpstr>
      <vt:lpstr>How  to Run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2025-12-11T13:24:05Z</dcterms:created>
  <dcterms:modified xsi:type="dcterms:W3CDTF">2025-12-11T19:23:01Z</dcterms:modified>
</cp:coreProperties>
</file>